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09109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22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2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8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0.png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7.png"/><Relationship Id="rId4" Type="http://schemas.openxmlformats.org/officeDocument/2006/relationships/image" Target="../media/image31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4.png"/><Relationship Id="rId5" Type="http://schemas.openxmlformats.org/officeDocument/2006/relationships/image" Target="../media/image2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3" name="Shape 1"/>
          <p:cNvSpPr/>
          <p:nvPr/>
        </p:nvSpPr>
        <p:spPr>
          <a:xfrm>
            <a:off x="7863840" y="-731520"/>
            <a:ext cx="2560320" cy="2560320"/>
          </a:xfrm>
          <a:prstGeom prst="ellipse">
            <a:avLst/>
          </a:prstGeom>
          <a:solidFill>
            <a:srgbClr val="A8BFA0">
              <a:alpha val="3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548640" y="3840480"/>
            <a:ext cx="1645920" cy="1645920"/>
          </a:xfrm>
          <a:prstGeom prst="ellipse">
            <a:avLst/>
          </a:prstGeom>
          <a:solidFill>
            <a:srgbClr val="D4A88C">
              <a:alpha val="25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82296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96012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91440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kern="0" spc="4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7772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Have Come Home</a:t>
            </a:r>
            <a:endParaRPr lang="en-US" sz="3800" dirty="0"/>
          </a:p>
        </p:txBody>
      </p:sp>
      <p:sp>
        <p:nvSpPr>
          <p:cNvPr id="9" name="Text 6"/>
          <p:cNvSpPr/>
          <p:nvPr/>
        </p:nvSpPr>
        <p:spPr>
          <a:xfrm>
            <a:off x="640080" y="2423160"/>
            <a:ext cx="7772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steps &amp; what to expect in your initial days of faith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40080" y="3017520"/>
            <a:ext cx="7772400" cy="1143000"/>
          </a:xfrm>
          <a:prstGeom prst="roundRect">
            <a:avLst>
              <a:gd name="adj" fmla="val 9600"/>
            </a:avLst>
          </a:prstGeom>
          <a:solidFill>
            <a:srgbClr val="FFFFFF"/>
          </a:solidFill>
          <a:ln/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640080" y="3017520"/>
            <a:ext cx="109728" cy="114300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12" name="Text 9"/>
          <p:cNvSpPr/>
          <p:nvPr/>
        </p:nvSpPr>
        <p:spPr>
          <a:xfrm>
            <a:off x="960120" y="3154680"/>
            <a:ext cx="7223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Shahadah is a beginning—not the end of a journey.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 not need to become perfect overnight. Allah knows your sincerity, struggles and limitations.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640080" y="438912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first task: learn to walk before trying to run.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FIRST 30 DAYS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Really Matters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05840" y="12344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 your faith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240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Guard your heart &amp; sincerity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10515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200400" y="12344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Salah basics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06040" y="2240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five daily prayers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09160" y="10515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94960" y="12344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3716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0060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 Wudu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00600" y="2240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Purification before prayer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03720" y="105156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89520" y="12344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3716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196596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Begin with Qur’an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95160" y="224028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&amp; understand gradually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20040" y="27889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1005840" y="297180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43000" y="3108960"/>
            <a:ext cx="365760" cy="365760"/>
          </a:xfrm>
          <a:prstGeom prst="rect">
            <a:avLst/>
          </a:prstGeom>
        </p:spPr>
      </p:pic>
      <p:sp>
        <p:nvSpPr>
          <p:cNvPr id="30" name="Text 23"/>
          <p:cNvSpPr/>
          <p:nvPr/>
        </p:nvSpPr>
        <p:spPr>
          <a:xfrm>
            <a:off x="41148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one mentor</a:t>
            </a:r>
            <a:endParaRPr lang="en-US" sz="1300" dirty="0"/>
          </a:p>
        </p:txBody>
      </p:sp>
      <p:sp>
        <p:nvSpPr>
          <p:cNvPr id="31" name="Text 24"/>
          <p:cNvSpPr/>
          <p:nvPr/>
        </p:nvSpPr>
        <p:spPr>
          <a:xfrm>
            <a:off x="41148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Knowledgeable &amp; patient</a:t>
            </a:r>
            <a:endParaRPr lang="en-US" sz="1100" dirty="0"/>
          </a:p>
        </p:txBody>
      </p:sp>
      <p:sp>
        <p:nvSpPr>
          <p:cNvPr id="32" name="Shape 25"/>
          <p:cNvSpPr/>
          <p:nvPr/>
        </p:nvSpPr>
        <p:spPr>
          <a:xfrm>
            <a:off x="2514600" y="27889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6"/>
          <p:cNvSpPr/>
          <p:nvPr/>
        </p:nvSpPr>
        <p:spPr>
          <a:xfrm>
            <a:off x="3200400" y="297180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3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37560" y="3108960"/>
            <a:ext cx="365760" cy="365760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260604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a community</a:t>
            </a:r>
            <a:endParaRPr lang="en-US" sz="1300" dirty="0"/>
          </a:p>
        </p:txBody>
      </p:sp>
      <p:sp>
        <p:nvSpPr>
          <p:cNvPr id="36" name="Text 28"/>
          <p:cNvSpPr/>
          <p:nvPr/>
        </p:nvSpPr>
        <p:spPr>
          <a:xfrm>
            <a:off x="260604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welcoming mosque</a:t>
            </a:r>
            <a:endParaRPr lang="en-US" sz="1100" dirty="0"/>
          </a:p>
        </p:txBody>
      </p:sp>
      <p:sp>
        <p:nvSpPr>
          <p:cNvPr id="37" name="Shape 29"/>
          <p:cNvSpPr/>
          <p:nvPr/>
        </p:nvSpPr>
        <p:spPr>
          <a:xfrm>
            <a:off x="4709160" y="2788920"/>
            <a:ext cx="2057400" cy="155448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8" name="Shape 30"/>
          <p:cNvSpPr/>
          <p:nvPr/>
        </p:nvSpPr>
        <p:spPr>
          <a:xfrm>
            <a:off x="5394960" y="297180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3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32120" y="3108960"/>
            <a:ext cx="365760" cy="365760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4800600" y="37033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it sincere</a:t>
            </a:r>
            <a:endParaRPr lang="en-US" sz="1300" dirty="0"/>
          </a:p>
        </p:txBody>
      </p:sp>
      <p:sp>
        <p:nvSpPr>
          <p:cNvPr id="41" name="Text 32"/>
          <p:cNvSpPr/>
          <p:nvPr/>
        </p:nvSpPr>
        <p:spPr>
          <a:xfrm>
            <a:off x="4800600" y="397764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Between you &amp; Allah first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DISCLOSURE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“Do I Have to Tell Everyone?”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F7F3EB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05156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is a personal decision. Becoming Muslim is a matter of faith between you and Allah. You are not required to make a public announcement.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7373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carefully: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65760" y="2103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48640" y="233172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423160"/>
            <a:ext cx="274320" cy="27432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4300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3246120" y="2103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3429000" y="2331720"/>
            <a:ext cx="457200" cy="457200"/>
          </a:xfrm>
          <a:prstGeom prst="ellipse">
            <a:avLst/>
          </a:prstGeom>
          <a:solidFill>
            <a:srgbClr val="6B8A5E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42316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02336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Housing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6126480" y="210312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09360" y="233172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423160"/>
            <a:ext cx="274320" cy="2743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903720" y="23774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Employment</a:t>
            </a:r>
            <a:endParaRPr lang="en-US" sz="1400" dirty="0"/>
          </a:p>
        </p:txBody>
      </p:sp>
      <p:sp>
        <p:nvSpPr>
          <p:cNvPr id="22" name="Shape 17"/>
          <p:cNvSpPr/>
          <p:nvPr/>
        </p:nvSpPr>
        <p:spPr>
          <a:xfrm>
            <a:off x="365760" y="31546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548640" y="3383280"/>
            <a:ext cx="457200" cy="457200"/>
          </a:xfrm>
          <a:prstGeom prst="ellipse">
            <a:avLst/>
          </a:prstGeom>
          <a:solidFill>
            <a:srgbClr val="6B8A5E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474720"/>
            <a:ext cx="274320" cy="27432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14300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dependence</a:t>
            </a:r>
            <a:endParaRPr lang="en-US" sz="1400" dirty="0"/>
          </a:p>
        </p:txBody>
      </p:sp>
      <p:sp>
        <p:nvSpPr>
          <p:cNvPr id="26" name="Shape 20"/>
          <p:cNvSpPr/>
          <p:nvPr/>
        </p:nvSpPr>
        <p:spPr>
          <a:xfrm>
            <a:off x="3246120" y="31546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429000" y="338328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47472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02336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circumstances</a:t>
            </a:r>
            <a:endParaRPr lang="en-US" sz="1400" dirty="0"/>
          </a:p>
        </p:txBody>
      </p:sp>
      <p:sp>
        <p:nvSpPr>
          <p:cNvPr id="30" name="Shape 23"/>
          <p:cNvSpPr/>
          <p:nvPr/>
        </p:nvSpPr>
        <p:spPr>
          <a:xfrm>
            <a:off x="6126480" y="315468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1" name="Shape 24"/>
          <p:cNvSpPr/>
          <p:nvPr/>
        </p:nvSpPr>
        <p:spPr>
          <a:xfrm>
            <a:off x="6309360" y="3383280"/>
            <a:ext cx="457200" cy="457200"/>
          </a:xfrm>
          <a:prstGeom prst="ellipse">
            <a:avLst/>
          </a:prstGeom>
          <a:solidFill>
            <a:srgbClr val="6B8A5E"/>
          </a:solidFill>
          <a:ln/>
        </p:spPr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474720"/>
            <a:ext cx="274320" cy="274320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6903720" y="342900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Emotional readiness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&amp; WHEN YOU DISCLOSE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Before Telling Someone, Ask: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7F3E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051560"/>
            <a:ext cx="347472" cy="347472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0515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51560" y="1033272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this person likely to listen with respect?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365760" y="1581912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1673352"/>
            <a:ext cx="347472" cy="347472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673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051560" y="1655064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disclosure put me in danger?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365760" y="2203704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7F3EB"/>
          </a:solidFill>
          <a:ln/>
        </p:spPr>
      </p:sp>
      <p:sp>
        <p:nvSpPr>
          <p:cNvPr id="16" name="Shape 14"/>
          <p:cNvSpPr/>
          <p:nvPr/>
        </p:nvSpPr>
        <p:spPr>
          <a:xfrm>
            <a:off x="502920" y="2295144"/>
            <a:ext cx="347472" cy="347472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2951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2276856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 I financially or housing-dependent on them?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5760" y="2825496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2916936"/>
            <a:ext cx="347472" cy="347472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29169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51560" y="2898648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somewhere safe to go if the reaction is severe?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365760" y="3447288"/>
            <a:ext cx="8412480" cy="530352"/>
          </a:xfrm>
          <a:prstGeom prst="roundRect">
            <a:avLst>
              <a:gd name="adj" fmla="val 13793"/>
            </a:avLst>
          </a:prstGeom>
          <a:solidFill>
            <a:srgbClr val="F7F3EB"/>
          </a:solidFill>
          <a:ln/>
        </p:spPr>
      </p:sp>
      <p:sp>
        <p:nvSpPr>
          <p:cNvPr id="24" name="Shape 22"/>
          <p:cNvSpPr/>
          <p:nvPr/>
        </p:nvSpPr>
        <p:spPr>
          <a:xfrm>
            <a:off x="502920" y="3538728"/>
            <a:ext cx="347472" cy="347472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25" name="Text 23"/>
          <p:cNvSpPr/>
          <p:nvPr/>
        </p:nvSpPr>
        <p:spPr>
          <a:xfrm>
            <a:off x="502920" y="35387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051560" y="3520440"/>
            <a:ext cx="7498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I have a Muslim friend, scholar or counsellor supporting me?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4206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B8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Courage is not recklessness. A gradual approach is perfectly reasonable.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 A CIRCLE OF SAFETY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Whom Should I Tell First?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320040" y="960120"/>
            <a:ext cx="2788920" cy="33832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960120"/>
            <a:ext cx="2788920" cy="105156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1325880" y="109728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63040" y="1234440"/>
            <a:ext cx="457200" cy="45720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20040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Circle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4864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Trustworthy, knowledgeable Muslim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54864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Compassionate imam or teacher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Mature Muslim friend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46120" y="960120"/>
            <a:ext cx="2788920" cy="33832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46120" y="960120"/>
            <a:ext cx="2788920" cy="1051560"/>
          </a:xfrm>
          <a:prstGeom prst="rect">
            <a:avLst/>
          </a:prstGeom>
          <a:solidFill>
            <a:srgbClr val="6B8A5E"/>
          </a:solidFill>
          <a:ln/>
        </p:spPr>
      </p:sp>
      <p:sp>
        <p:nvSpPr>
          <p:cNvPr id="17" name="Shape 14"/>
          <p:cNvSpPr/>
          <p:nvPr/>
        </p:nvSpPr>
        <p:spPr>
          <a:xfrm>
            <a:off x="4251960" y="109728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89120" y="1234440"/>
            <a:ext cx="457200" cy="45720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3246120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 Circle</a:t>
            </a:r>
            <a:endParaRPr lang="en-US" sz="1600" dirty="0"/>
          </a:p>
        </p:txBody>
      </p:sp>
      <p:sp>
        <p:nvSpPr>
          <p:cNvPr id="20" name="Text 16"/>
          <p:cNvSpPr/>
          <p:nvPr/>
        </p:nvSpPr>
        <p:spPr>
          <a:xfrm>
            <a:off x="347472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 trusted family member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47472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Genuinely supportive friend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347472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Someone offering practical help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72200" y="960120"/>
            <a:ext cx="2788920" cy="338328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/>
          <a:effectLst>
            <a:outerShdw blurRad="889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6172200" y="960120"/>
            <a:ext cx="2788920" cy="1051560"/>
          </a:xfrm>
          <a:prstGeom prst="rect">
            <a:avLst/>
          </a:prstGeom>
          <a:solidFill>
            <a:srgbClr val="A8BFA0"/>
          </a:solidFill>
          <a:ln/>
        </p:spPr>
      </p:sp>
      <p:sp>
        <p:nvSpPr>
          <p:cNvPr id="25" name="Shape 21"/>
          <p:cNvSpPr/>
          <p:nvPr/>
        </p:nvSpPr>
        <p:spPr>
          <a:xfrm>
            <a:off x="7178040" y="1097280"/>
            <a:ext cx="731520" cy="731520"/>
          </a:xfrm>
          <a:prstGeom prst="ellipse">
            <a:avLst/>
          </a:prstGeom>
          <a:solidFill>
            <a:srgbClr val="FFFFFF">
              <a:alpha val="80000"/>
            </a:srgbClr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1234440"/>
            <a:ext cx="457200" cy="45720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6172200" y="210312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600" dirty="0"/>
          </a:p>
        </p:txBody>
      </p:sp>
      <p:sp>
        <p:nvSpPr>
          <p:cNvPr id="28" name="Text 23"/>
          <p:cNvSpPr/>
          <p:nvPr/>
        </p:nvSpPr>
        <p:spPr>
          <a:xfrm>
            <a:off x="6400800" y="26060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Wider family</a:t>
            </a:r>
            <a:endParaRPr lang="en-US" sz="1300" dirty="0"/>
          </a:p>
        </p:txBody>
      </p:sp>
      <p:sp>
        <p:nvSpPr>
          <p:cNvPr id="29" name="Text 24"/>
          <p:cNvSpPr/>
          <p:nvPr/>
        </p:nvSpPr>
        <p:spPr>
          <a:xfrm>
            <a:off x="6400800" y="30632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Colleagues &amp; social circles</a:t>
            </a:r>
            <a:endParaRPr lang="en-US" sz="1300" dirty="0"/>
          </a:p>
        </p:txBody>
      </p:sp>
      <p:sp>
        <p:nvSpPr>
          <p:cNvPr id="30" name="Text 25"/>
          <p:cNvSpPr/>
          <p:nvPr/>
        </p:nvSpPr>
        <p:spPr>
          <a:xfrm>
            <a:off x="6400800" y="3520440"/>
            <a:ext cx="2331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Social media / public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FAMILY TIES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“My Family Isn’t Muslim. What Do I Do?”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60120"/>
            <a:ext cx="8412480" cy="640080"/>
          </a:xfrm>
          <a:prstGeom prst="roundRect">
            <a:avLst>
              <a:gd name="adj" fmla="val 14286"/>
            </a:avLst>
          </a:prstGeom>
          <a:solidFill>
            <a:srgbClr val="4F6B4A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9728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105156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changed your religion — not your love for your family.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365760" y="18288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48640" y="2103120"/>
            <a:ext cx="502920" cy="5029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2212848"/>
            <a:ext cx="292608" cy="29260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3444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Honour parents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23444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to treat them with respect and care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4663440" y="182880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846320" y="2103120"/>
            <a:ext cx="502920" cy="5029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56048" y="2212848"/>
            <a:ext cx="292608" cy="29260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532120" y="20116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Maintain ties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5532120" y="23774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Visit, call and help when they need you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365760" y="30632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548640" y="3337560"/>
            <a:ext cx="502920" cy="5029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8368" y="3447288"/>
            <a:ext cx="292608" cy="29260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3444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 patient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123444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Kindness and calm go further than debate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4663440" y="3063240"/>
            <a:ext cx="4114800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4846320" y="3337560"/>
            <a:ext cx="502920" cy="5029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56048" y="3447288"/>
            <a:ext cx="292608" cy="29260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532120" y="324612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debates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5532120" y="361188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turn every talk into a religious argument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CHARACTER OVER ARGUMENT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Family Says: “Islam Has Changed You!”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DF6F4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11887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C45C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of…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Arguing or becoming defensive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Criticising their religion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Cutting everyone off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9436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   Trying to win every conversation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709160" y="1005840"/>
            <a:ext cx="4114800" cy="3291840"/>
          </a:xfrm>
          <a:prstGeom prst="roundRect">
            <a:avLst>
              <a:gd name="adj" fmla="val 3333"/>
            </a:avLst>
          </a:prstGeom>
          <a:solidFill>
            <a:srgbClr val="F0F7EF"/>
          </a:solidFill>
          <a:ln/>
        </p:spPr>
      </p:sp>
      <p:sp>
        <p:nvSpPr>
          <p:cNvPr id="15" name="Shape 13"/>
          <p:cNvSpPr/>
          <p:nvPr/>
        </p:nvSpPr>
        <p:spPr>
          <a:xfrm>
            <a:off x="4892040" y="1188720"/>
            <a:ext cx="1463040" cy="365760"/>
          </a:xfrm>
          <a:prstGeom prst="roundRect">
            <a:avLst>
              <a:gd name="adj" fmla="val 20000"/>
            </a:avLst>
          </a:prstGeom>
          <a:solidFill>
            <a:srgbClr val="5A8F5A"/>
          </a:solidFill>
          <a:ln/>
        </p:spPr>
      </p:sp>
      <p:sp>
        <p:nvSpPr>
          <p:cNvPr id="16" name="Text 14"/>
          <p:cNvSpPr/>
          <p:nvPr/>
        </p:nvSpPr>
        <p:spPr>
          <a:xfrm>
            <a:off x="4892040" y="118872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saying…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983480" y="18288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“Islam is teaching me to be more patient.”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23317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“I still love you.”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83480" y="283464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“I respect your right to your beliefs.”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83480" y="333756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 “Please give me time to learn.”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FRIENDSHIPS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Non-Muslim Friends: What Changes?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friendship has to end. You can continue friendship, conversation, study/work relationships and ordinary social interaction.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may need new boundaries around: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48640" y="205740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148840"/>
            <a:ext cx="274320" cy="27432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14300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 &amp; drugs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46120" y="1828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429000" y="205740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440" y="2148840"/>
            <a:ext cx="274320" cy="27432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2336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Sexual behaviour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6126480" y="182880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309360" y="205740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0" y="2148840"/>
            <a:ext cx="274320" cy="2743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903720" y="21031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Gambling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65760" y="2880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548640" y="310896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320040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14300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Inappropriate entertainment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3246120" y="2880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3429000" y="310896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20440" y="3200400"/>
            <a:ext cx="274320" cy="27432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02336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Conflicting rituals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6126480" y="2880360"/>
            <a:ext cx="27432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09360" y="3108960"/>
            <a:ext cx="457200" cy="45720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00800" y="320040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903720" y="315468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Compromising situations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457200" y="4114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your identity without attacking theirs. Don’t become hostile. Don’t become invisible.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CONFIDENCE TRAP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“Everyone Seems to Know More Islam Than Me!”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320040" y="1005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60120" y="1188720"/>
            <a:ext cx="731520" cy="7315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37160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1148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Unfamiliar Arabic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41148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Terminology you haven’t met yet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2514600" y="1005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154680" y="1188720"/>
            <a:ext cx="731520" cy="7315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1371600"/>
            <a:ext cx="365760" cy="3657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260604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Salah corrections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260604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correcting how you pray</a:t>
            </a:r>
            <a:endParaRPr lang="en-US" sz="1100" dirty="0"/>
          </a:p>
        </p:txBody>
      </p:sp>
      <p:sp>
        <p:nvSpPr>
          <p:cNvPr id="17" name="Shape 13"/>
          <p:cNvSpPr/>
          <p:nvPr/>
        </p:nvSpPr>
        <p:spPr>
          <a:xfrm>
            <a:off x="4709160" y="1005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349240" y="1188720"/>
            <a:ext cx="731520" cy="7315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1371600"/>
            <a:ext cx="365760" cy="36576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80060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Differing opinions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80060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views on practice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903720" y="1005840"/>
            <a:ext cx="2057400" cy="1691640"/>
          </a:xfrm>
          <a:prstGeom prst="roundRect">
            <a:avLst>
              <a:gd name="adj" fmla="val 5405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7543800" y="1188720"/>
            <a:ext cx="731520" cy="73152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6680" y="1371600"/>
            <a:ext cx="365760" cy="36576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6995160" y="205740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Culture as ‘Islam’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6995160" y="2331720"/>
            <a:ext cx="1874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B65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Cultural habits presented as religion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365760" y="2926080"/>
            <a:ext cx="8412480" cy="1417320"/>
          </a:xfrm>
          <a:prstGeom prst="roundRect">
            <a:avLst>
              <a:gd name="adj" fmla="val 6452"/>
            </a:avLst>
          </a:prstGeom>
          <a:solidFill>
            <a:srgbClr val="F7F3EB"/>
          </a:solidFill>
          <a:ln/>
        </p:spPr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4360" y="3154680"/>
            <a:ext cx="365760" cy="365760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1097280" y="31089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Remember</a:t>
            </a:r>
            <a:endParaRPr lang="en-US" sz="1500" dirty="0"/>
          </a:p>
        </p:txBody>
      </p:sp>
      <p:sp>
        <p:nvSpPr>
          <p:cNvPr id="30" name="Text 23"/>
          <p:cNvSpPr/>
          <p:nvPr/>
        </p:nvSpPr>
        <p:spPr>
          <a:xfrm>
            <a:off x="594360" y="3520440"/>
            <a:ext cx="7955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a beginner. Saying “I don’t know” is perfectly acceptable. Ask for evidence. Learn from qualified teachers. Don’t confuse someone’s confidence with Islamic knowledge.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faith does not become weaker because you are still learning.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DOUBTS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“Maybe I’ve Made a Mistake?”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Doubts do not automatically mean loss of faith. New Muslims commonly experience: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7F3EB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“What if I’m wrong?”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132588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7F3EB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137160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“Why am I struggling to pray?”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87452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7F3EB"/>
          </a:solidFill>
          <a:ln/>
        </p:spPr>
      </p:sp>
      <p:sp>
        <p:nvSpPr>
          <p:cNvPr id="13" name="Text 11"/>
          <p:cNvSpPr/>
          <p:nvPr/>
        </p:nvSpPr>
        <p:spPr>
          <a:xfrm>
            <a:off x="50292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“Why don’t I feel spiritual all the time?”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63440" y="187452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7F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800600" y="19202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“Everyone else seems more religious.”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4231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7F3EB"/>
          </a:solidFill>
          <a:ln/>
        </p:spPr>
      </p:sp>
      <p:sp>
        <p:nvSpPr>
          <p:cNvPr id="17" name="Text 15"/>
          <p:cNvSpPr/>
          <p:nvPr/>
        </p:nvSpPr>
        <p:spPr>
          <a:xfrm>
            <a:off x="50292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“I miss my old life.”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663440" y="2423160"/>
            <a:ext cx="4114800" cy="457200"/>
          </a:xfrm>
          <a:prstGeom prst="roundRect">
            <a:avLst>
              <a:gd name="adj" fmla="val 12000"/>
            </a:avLst>
          </a:prstGeom>
          <a:solidFill>
            <a:srgbClr val="F7F3EB"/>
          </a:solidFill>
          <a:ln/>
        </p:spPr>
      </p:sp>
      <p:sp>
        <p:nvSpPr>
          <p:cNvPr id="19" name="Text 17"/>
          <p:cNvSpPr/>
          <p:nvPr/>
        </p:nvSpPr>
        <p:spPr>
          <a:xfrm>
            <a:off x="4800600" y="246888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“Allah won’t accept someone like me.”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365760" y="3108960"/>
            <a:ext cx="8412480" cy="1280160"/>
          </a:xfrm>
          <a:prstGeom prst="roundRect">
            <a:avLst>
              <a:gd name="adj" fmla="val 7143"/>
            </a:avLst>
          </a:prstGeom>
          <a:solidFill>
            <a:srgbClr val="4F6B4A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3291840"/>
            <a:ext cx="365760" cy="36576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097280" y="3246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A8B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do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94360" y="3657600"/>
            <a:ext cx="7955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panic. Make du‘a. Return to the Qur’an. Speak to a trustworthy teacher.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endless internet arguments. Keep practising even when emotions fluctuate.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make a permanent decision during a temporary emotional storm.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BREAKING THE CYCLE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One Slip to “Give Up”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10058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7F3EB"/>
          </a:solidFill>
          <a:ln/>
        </p:spPr>
      </p:sp>
      <p:sp>
        <p:nvSpPr>
          <p:cNvPr id="8" name="Text 6"/>
          <p:cNvSpPr/>
          <p:nvPr/>
        </p:nvSpPr>
        <p:spPr>
          <a:xfrm>
            <a:off x="36576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Whisper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6576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“You missed one Salah.”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40280" y="1508760"/>
            <a:ext cx="256032" cy="256032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514600" y="10058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EFE9DC"/>
          </a:solidFill>
          <a:ln/>
        </p:spPr>
      </p:sp>
      <p:sp>
        <p:nvSpPr>
          <p:cNvPr id="12" name="Text 9"/>
          <p:cNvSpPr/>
          <p:nvPr/>
        </p:nvSpPr>
        <p:spPr>
          <a:xfrm>
            <a:off x="260604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Guilt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260604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“I’m a terrible Muslim.”</a:t>
            </a:r>
            <a:endParaRPr lang="en-US" sz="13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80560" y="1508760"/>
            <a:ext cx="256032" cy="256032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4754880" y="10058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5E6E0"/>
          </a:solidFill>
          <a:ln/>
        </p:spPr>
      </p:sp>
      <p:sp>
        <p:nvSpPr>
          <p:cNvPr id="16" name="Text 12"/>
          <p:cNvSpPr/>
          <p:nvPr/>
        </p:nvSpPr>
        <p:spPr>
          <a:xfrm>
            <a:off x="484632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Despair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84632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“Allah won’t forgive me.”</a:t>
            </a:r>
            <a:endParaRPr lang="en-US" sz="1300" dirty="0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1508760"/>
            <a:ext cx="256032" cy="25603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995160" y="1005840"/>
            <a:ext cx="2103120" cy="1371600"/>
          </a:xfrm>
          <a:prstGeom prst="roundRect">
            <a:avLst>
              <a:gd name="adj" fmla="val 6667"/>
            </a:avLst>
          </a:prstGeom>
          <a:solidFill>
            <a:srgbClr val="F0D9D0"/>
          </a:solidFill>
          <a:ln/>
        </p:spPr>
      </p:sp>
      <p:sp>
        <p:nvSpPr>
          <p:cNvPr id="20" name="Text 15"/>
          <p:cNvSpPr/>
          <p:nvPr/>
        </p:nvSpPr>
        <p:spPr>
          <a:xfrm>
            <a:off x="7086600" y="11430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Withdrawal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7086600" y="15544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“I’ll start again someday.”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365760" y="2651760"/>
            <a:ext cx="841248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18"/>
          <p:cNvSpPr/>
          <p:nvPr/>
        </p:nvSpPr>
        <p:spPr>
          <a:xfrm>
            <a:off x="365760" y="2651760"/>
            <a:ext cx="109728" cy="173736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24" name="Text 19"/>
          <p:cNvSpPr/>
          <p:nvPr/>
        </p:nvSpPr>
        <p:spPr>
          <a:xfrm>
            <a:off x="685800" y="278892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the chain</a:t>
            </a:r>
            <a:endParaRPr lang="en-US" sz="1500" dirty="0"/>
          </a:p>
        </p:txBody>
      </p:sp>
      <p:sp>
        <p:nvSpPr>
          <p:cNvPr id="25" name="Text 20"/>
          <p:cNvSpPr/>
          <p:nvPr/>
        </p:nvSpPr>
        <p:spPr>
          <a:xfrm>
            <a:off x="685800" y="31089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Slip  →  repent  →  resume  →  continue</a:t>
            </a:r>
            <a:endParaRPr lang="en-US" sz="1600" dirty="0"/>
          </a:p>
        </p:txBody>
      </p:sp>
      <p:sp>
        <p:nvSpPr>
          <p:cNvPr id="26" name="Text 21"/>
          <p:cNvSpPr/>
          <p:nvPr/>
        </p:nvSpPr>
        <p:spPr>
          <a:xfrm>
            <a:off x="685800" y="35204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allow one mistake to become abandonment. Don’t wait until you “feel religious” to practise.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believer’s strength is not never falling — it is returning to Allah.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AFTER A MISTAKE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If I Miss a Prayer / Make a Mistake?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turn a mistake into an identity.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DF6F4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45C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486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failed as a Muslim.”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709160" y="132588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F0F7EF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4630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5A8F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Say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92040" y="187452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made a mistake. What do I do next?”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57200" y="27889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the habit of: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65760" y="31546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2918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3429000"/>
            <a:ext cx="365760" cy="365760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45720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Tawbah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2103120" y="31546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2606040" y="32918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3200" y="3429000"/>
            <a:ext cx="365760" cy="3657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219456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Istighfar</a:t>
            </a:r>
            <a:endParaRPr lang="en-US" sz="1200" dirty="0"/>
          </a:p>
        </p:txBody>
      </p:sp>
      <p:sp>
        <p:nvSpPr>
          <p:cNvPr id="23" name="Shape 19"/>
          <p:cNvSpPr/>
          <p:nvPr/>
        </p:nvSpPr>
        <p:spPr>
          <a:xfrm>
            <a:off x="3840480" y="31546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4" name="Shape 20"/>
          <p:cNvSpPr/>
          <p:nvPr/>
        </p:nvSpPr>
        <p:spPr>
          <a:xfrm>
            <a:off x="4343400" y="32918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429000"/>
            <a:ext cx="365760" cy="365760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393192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it</a:t>
            </a:r>
            <a:endParaRPr lang="en-US" sz="1200" dirty="0"/>
          </a:p>
        </p:txBody>
      </p:sp>
      <p:sp>
        <p:nvSpPr>
          <p:cNvPr id="27" name="Shape 22"/>
          <p:cNvSpPr/>
          <p:nvPr/>
        </p:nvSpPr>
        <p:spPr>
          <a:xfrm>
            <a:off x="5577840" y="31546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28" name="Shape 23"/>
          <p:cNvSpPr/>
          <p:nvPr/>
        </p:nvSpPr>
        <p:spPr>
          <a:xfrm>
            <a:off x="6080760" y="32918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3429000"/>
            <a:ext cx="365760" cy="365760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566928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someone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315200" y="3154680"/>
            <a:ext cx="164592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7818120" y="3291840"/>
            <a:ext cx="640080" cy="64008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3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3429000"/>
            <a:ext cx="365760" cy="365760"/>
          </a:xfrm>
          <a:prstGeom prst="rect">
            <a:avLst/>
          </a:prstGeom>
        </p:spPr>
      </p:pic>
      <p:sp>
        <p:nvSpPr>
          <p:cNvPr id="34" name="Text 27"/>
          <p:cNvSpPr/>
          <p:nvPr/>
        </p:nvSpPr>
        <p:spPr>
          <a:xfrm>
            <a:off x="7406640" y="402336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13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ESSENTIAL TOOLKIT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These Gradually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274320" y="960120"/>
            <a:ext cx="2148840" cy="3383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960120"/>
            <a:ext cx="2148840" cy="105156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960120" y="1097280"/>
            <a:ext cx="731520" cy="73152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280160"/>
            <a:ext cx="365760" cy="36576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27432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Faith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45720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Shahadah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Tawhid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5720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Six articles of faith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2514600" y="960120"/>
            <a:ext cx="2148840" cy="3383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514600" y="960120"/>
            <a:ext cx="2148840" cy="105156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17" name="Shape 14"/>
          <p:cNvSpPr/>
          <p:nvPr/>
        </p:nvSpPr>
        <p:spPr>
          <a:xfrm>
            <a:off x="3200400" y="1097280"/>
            <a:ext cx="731520" cy="73152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1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83280" y="1280160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251460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Worship</a:t>
            </a:r>
            <a:endParaRPr lang="en-US" sz="1500" dirty="0"/>
          </a:p>
        </p:txBody>
      </p:sp>
      <p:sp>
        <p:nvSpPr>
          <p:cNvPr id="20" name="Text 16"/>
          <p:cNvSpPr/>
          <p:nvPr/>
        </p:nvSpPr>
        <p:spPr>
          <a:xfrm>
            <a:off x="269748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Wudu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269748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Five daily prayers</a:t>
            </a:r>
            <a:endParaRPr lang="en-US" sz="1200" dirty="0"/>
          </a:p>
        </p:txBody>
      </p:sp>
      <p:sp>
        <p:nvSpPr>
          <p:cNvPr id="22" name="Text 18"/>
          <p:cNvSpPr/>
          <p:nvPr/>
        </p:nvSpPr>
        <p:spPr>
          <a:xfrm>
            <a:off x="269748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Salah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269748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Fasting in Ramadan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4754880" y="960120"/>
            <a:ext cx="2148840" cy="3383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5" name="Shape 21"/>
          <p:cNvSpPr/>
          <p:nvPr/>
        </p:nvSpPr>
        <p:spPr>
          <a:xfrm>
            <a:off x="4754880" y="960120"/>
            <a:ext cx="2148840" cy="105156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26" name="Shape 22"/>
          <p:cNvSpPr/>
          <p:nvPr/>
        </p:nvSpPr>
        <p:spPr>
          <a:xfrm>
            <a:off x="5440680" y="1097280"/>
            <a:ext cx="731520" cy="73152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3560" y="1280160"/>
            <a:ext cx="365760" cy="365760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475488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Qur’an</a:t>
            </a:r>
            <a:endParaRPr lang="en-US" sz="1500" dirty="0"/>
          </a:p>
        </p:txBody>
      </p:sp>
      <p:sp>
        <p:nvSpPr>
          <p:cNvPr id="29" name="Text 24"/>
          <p:cNvSpPr/>
          <p:nvPr/>
        </p:nvSpPr>
        <p:spPr>
          <a:xfrm>
            <a:off x="493776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Al-Fatihah</a:t>
            </a:r>
            <a:endParaRPr lang="en-US" sz="1200" dirty="0"/>
          </a:p>
        </p:txBody>
      </p:sp>
      <p:sp>
        <p:nvSpPr>
          <p:cNvPr id="30" name="Text 25"/>
          <p:cNvSpPr/>
          <p:nvPr/>
        </p:nvSpPr>
        <p:spPr>
          <a:xfrm>
            <a:off x="493776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Short surahs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493776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Basic reading &amp; meaning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6995160" y="960120"/>
            <a:ext cx="2148840" cy="338328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95160" y="960120"/>
            <a:ext cx="2148840" cy="1051560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34" name="Shape 29"/>
          <p:cNvSpPr/>
          <p:nvPr/>
        </p:nvSpPr>
        <p:spPr>
          <a:xfrm>
            <a:off x="7680960" y="1097280"/>
            <a:ext cx="731520" cy="731520"/>
          </a:xfrm>
          <a:prstGeom prst="ellipse">
            <a:avLst/>
          </a:prstGeom>
          <a:solidFill>
            <a:srgbClr val="FFFFFF">
              <a:alpha val="82000"/>
            </a:srgbClr>
          </a:solidFill>
          <a:ln/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63840" y="1280160"/>
            <a:ext cx="365760" cy="36576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95160" y="2103120"/>
            <a:ext cx="2148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Life</a:t>
            </a:r>
            <a:endParaRPr lang="en-US" sz="1500" dirty="0"/>
          </a:p>
        </p:txBody>
      </p:sp>
      <p:sp>
        <p:nvSpPr>
          <p:cNvPr id="37" name="Text 31"/>
          <p:cNvSpPr/>
          <p:nvPr/>
        </p:nvSpPr>
        <p:spPr>
          <a:xfrm>
            <a:off x="7178040" y="256032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Halal / haram basics</a:t>
            </a:r>
            <a:endParaRPr lang="en-US" sz="1200" dirty="0"/>
          </a:p>
        </p:txBody>
      </p:sp>
      <p:sp>
        <p:nvSpPr>
          <p:cNvPr id="38" name="Text 32"/>
          <p:cNvSpPr/>
          <p:nvPr/>
        </p:nvSpPr>
        <p:spPr>
          <a:xfrm>
            <a:off x="7178040" y="288036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Modesty</a:t>
            </a:r>
            <a:endParaRPr lang="en-US" sz="1200" dirty="0"/>
          </a:p>
        </p:txBody>
      </p:sp>
      <p:sp>
        <p:nvSpPr>
          <p:cNvPr id="39" name="Text 33"/>
          <p:cNvSpPr/>
          <p:nvPr/>
        </p:nvSpPr>
        <p:spPr>
          <a:xfrm>
            <a:off x="7178040" y="320040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Food &amp; drink</a:t>
            </a:r>
            <a:endParaRPr lang="en-US" sz="1200" dirty="0"/>
          </a:p>
        </p:txBody>
      </p:sp>
      <p:sp>
        <p:nvSpPr>
          <p:cNvPr id="40" name="Text 34"/>
          <p:cNvSpPr/>
          <p:nvPr/>
        </p:nvSpPr>
        <p:spPr>
          <a:xfrm>
            <a:off x="7178040" y="352044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Good manners</a:t>
            </a:r>
            <a:endParaRPr lang="en-US" sz="1200" dirty="0"/>
          </a:p>
        </p:txBody>
      </p:sp>
      <p:sp>
        <p:nvSpPr>
          <p:cNvPr id="41" name="Text 35"/>
          <p:cNvSpPr/>
          <p:nvPr/>
        </p:nvSpPr>
        <p:spPr>
          <a:xfrm>
            <a:off x="7178040" y="3840480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Family duties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SUPPORT SYSTEM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Need People — Not Just Information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65760" y="91440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7F3E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987552"/>
            <a:ext cx="402336" cy="402336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987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051560"/>
            <a:ext cx="274320" cy="27432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554480" y="9601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teacher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206240" y="96012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Knowledgeable, balanced, patient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65760" y="155448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502920" y="1627632"/>
            <a:ext cx="402336" cy="402336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15" name="Text 12"/>
          <p:cNvSpPr/>
          <p:nvPr/>
        </p:nvSpPr>
        <p:spPr>
          <a:xfrm>
            <a:off x="502920" y="162763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7280" y="1691640"/>
            <a:ext cx="274320" cy="27432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554480" y="16002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Muslim friend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4206240" y="160020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Someone you can call when struggling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65760" y="219456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7F3EB"/>
          </a:solidFill>
          <a:ln/>
        </p:spPr>
      </p:sp>
      <p:sp>
        <p:nvSpPr>
          <p:cNvPr id="20" name="Shape 16"/>
          <p:cNvSpPr/>
          <p:nvPr/>
        </p:nvSpPr>
        <p:spPr>
          <a:xfrm>
            <a:off x="502920" y="2267712"/>
            <a:ext cx="402336" cy="402336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21" name="Text 17"/>
          <p:cNvSpPr/>
          <p:nvPr/>
        </p:nvSpPr>
        <p:spPr>
          <a:xfrm>
            <a:off x="502920" y="22677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7280" y="2331720"/>
            <a:ext cx="274320" cy="274320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554480" y="22402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mosque / community</a:t>
            </a:r>
            <a:endParaRPr lang="en-US" sz="1400" dirty="0"/>
          </a:p>
        </p:txBody>
      </p:sp>
      <p:sp>
        <p:nvSpPr>
          <p:cNvPr id="24" name="Text 19"/>
          <p:cNvSpPr/>
          <p:nvPr/>
        </p:nvSpPr>
        <p:spPr>
          <a:xfrm>
            <a:off x="4206240" y="224028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Somewhere you feel welcome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65760" y="283464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502920" y="2907792"/>
            <a:ext cx="402336" cy="402336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27" name="Text 22"/>
          <p:cNvSpPr/>
          <p:nvPr/>
        </p:nvSpPr>
        <p:spPr>
          <a:xfrm>
            <a:off x="502920" y="29077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97280" y="2971800"/>
            <a:ext cx="274320" cy="274320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554480" y="28803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mentor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4206240" y="288036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Experienced with new Muslims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365760" y="3474720"/>
            <a:ext cx="8412480" cy="548640"/>
          </a:xfrm>
          <a:prstGeom prst="roundRect">
            <a:avLst>
              <a:gd name="adj" fmla="val 13333"/>
            </a:avLst>
          </a:prstGeom>
          <a:solidFill>
            <a:srgbClr val="F7F3EB"/>
          </a:solidFill>
          <a:ln/>
        </p:spPr>
      </p:sp>
      <p:sp>
        <p:nvSpPr>
          <p:cNvPr id="32" name="Shape 26"/>
          <p:cNvSpPr/>
          <p:nvPr/>
        </p:nvSpPr>
        <p:spPr>
          <a:xfrm>
            <a:off x="502920" y="3547872"/>
            <a:ext cx="402336" cy="402336"/>
          </a:xfrm>
          <a:prstGeom prst="ellipse">
            <a:avLst/>
          </a:prstGeom>
          <a:solidFill>
            <a:srgbClr val="4F6B4A"/>
          </a:solidFill>
          <a:ln/>
        </p:spPr>
      </p:sp>
      <p:sp>
        <p:nvSpPr>
          <p:cNvPr id="33" name="Text 27"/>
          <p:cNvSpPr/>
          <p:nvPr/>
        </p:nvSpPr>
        <p:spPr>
          <a:xfrm>
            <a:off x="502920" y="35478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97280" y="3611880"/>
            <a:ext cx="274320" cy="274320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554480" y="35204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2A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Reliable knowledge</a:t>
            </a:r>
            <a:endParaRPr lang="en-US" sz="1400" dirty="0"/>
          </a:p>
        </p:txBody>
      </p:sp>
      <p:sp>
        <p:nvSpPr>
          <p:cNvPr id="36" name="Text 29"/>
          <p:cNvSpPr/>
          <p:nvPr/>
        </p:nvSpPr>
        <p:spPr>
          <a:xfrm>
            <a:off x="4206240" y="3520440"/>
            <a:ext cx="4389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Qur’an, authentic Sunnah, recognised scholars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57200" y="4251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7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Warning signs: “Only our group is Muslim” · Constant judgment · Pressure to cut off family · Rushing major decisions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BF8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EFE9DC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4919472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2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PATH OF A NEW MUSLIM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7589520" y="491947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  · 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20116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kern="0" spc="300" dirty="0">
                <a:solidFill>
                  <a:srgbClr val="4F6B4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YOUR ROADMAP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2C2A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Stay on the Path: First-Year Roadmap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320040" y="914400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7F3EB"/>
          </a:solidFill>
          <a:ln/>
        </p:spPr>
      </p:sp>
      <p:sp>
        <p:nvSpPr>
          <p:cNvPr id="8" name="Shape 6"/>
          <p:cNvSpPr/>
          <p:nvPr/>
        </p:nvSpPr>
        <p:spPr>
          <a:xfrm>
            <a:off x="320040" y="914400"/>
            <a:ext cx="91440" cy="530352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996696"/>
            <a:ext cx="365760" cy="36576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" y="1069848"/>
            <a:ext cx="219456" cy="2194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097280" y="98755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week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3291840" y="987552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Shahadah · Wudu · Salah basics · one trusted Muslim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320040" y="1536192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14" name="Shape 11"/>
          <p:cNvSpPr/>
          <p:nvPr/>
        </p:nvSpPr>
        <p:spPr>
          <a:xfrm>
            <a:off x="320040" y="1536192"/>
            <a:ext cx="91440" cy="530352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618488"/>
            <a:ext cx="365760" cy="36576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1691640"/>
            <a:ext cx="219456" cy="219456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" y="160934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month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3291840" y="1609344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Establish five prayers · Qur’an · mosque / community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320040" y="2157984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7F3EB"/>
          </a:solidFill>
          <a:ln/>
        </p:spPr>
      </p:sp>
      <p:sp>
        <p:nvSpPr>
          <p:cNvPr id="20" name="Shape 16"/>
          <p:cNvSpPr/>
          <p:nvPr/>
        </p:nvSpPr>
        <p:spPr>
          <a:xfrm>
            <a:off x="320040" y="2157984"/>
            <a:ext cx="91440" cy="530352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" y="2240280"/>
            <a:ext cx="365760" cy="36576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792" y="2313432"/>
            <a:ext cx="219456" cy="219456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1097280" y="2231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3 months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3291840" y="2231136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Essential beliefs · fasting · basic ḥalāl/ḥarām · character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320040" y="2779776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FFFFF"/>
          </a:solidFill>
          <a:ln/>
        </p:spPr>
      </p:sp>
      <p:sp>
        <p:nvSpPr>
          <p:cNvPr id="26" name="Shape 21"/>
          <p:cNvSpPr/>
          <p:nvPr/>
        </p:nvSpPr>
        <p:spPr>
          <a:xfrm>
            <a:off x="320040" y="2779776"/>
            <a:ext cx="91440" cy="530352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27" name="Shape 22"/>
          <p:cNvSpPr/>
          <p:nvPr/>
        </p:nvSpPr>
        <p:spPr>
          <a:xfrm>
            <a:off x="548640" y="2862072"/>
            <a:ext cx="365760" cy="36576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" y="2935224"/>
            <a:ext cx="219456" cy="219456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097280" y="285292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6 months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3291840" y="2852928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consistency · deepen Qur’an · study Seerah</a:t>
            </a:r>
            <a:endParaRPr lang="en-US" sz="1300" dirty="0"/>
          </a:p>
        </p:txBody>
      </p:sp>
      <p:sp>
        <p:nvSpPr>
          <p:cNvPr id="31" name="Shape 25"/>
          <p:cNvSpPr/>
          <p:nvPr/>
        </p:nvSpPr>
        <p:spPr>
          <a:xfrm>
            <a:off x="320040" y="3401568"/>
            <a:ext cx="8503920" cy="530352"/>
          </a:xfrm>
          <a:prstGeom prst="roundRect">
            <a:avLst>
              <a:gd name="adj" fmla="val 13793"/>
            </a:avLst>
          </a:prstGeom>
          <a:solidFill>
            <a:srgbClr val="F7F3EB"/>
          </a:solidFill>
          <a:ln/>
        </p:spPr>
      </p:sp>
      <p:sp>
        <p:nvSpPr>
          <p:cNvPr id="32" name="Shape 26"/>
          <p:cNvSpPr/>
          <p:nvPr/>
        </p:nvSpPr>
        <p:spPr>
          <a:xfrm>
            <a:off x="320040" y="3401568"/>
            <a:ext cx="91440" cy="530352"/>
          </a:xfrm>
          <a:prstGeom prst="rect">
            <a:avLst/>
          </a:prstGeom>
          <a:solidFill>
            <a:srgbClr val="4F6B4A"/>
          </a:solidFill>
          <a:ln/>
        </p:spPr>
      </p:sp>
      <p:sp>
        <p:nvSpPr>
          <p:cNvPr id="33" name="Shape 27"/>
          <p:cNvSpPr/>
          <p:nvPr/>
        </p:nvSpPr>
        <p:spPr>
          <a:xfrm>
            <a:off x="548640" y="3483864"/>
            <a:ext cx="365760" cy="365760"/>
          </a:xfrm>
          <a:prstGeom prst="ellipse">
            <a:avLst/>
          </a:prstGeom>
          <a:solidFill>
            <a:srgbClr val="4F6B4A"/>
          </a:solidFill>
          <a:ln/>
        </p:spPr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792" y="3557016"/>
            <a:ext cx="219456" cy="219456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97280" y="3474720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year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3291840" y="347472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6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· worship · character · community · service</a:t>
            </a:r>
            <a:endParaRPr lang="en-US" sz="1300" dirty="0"/>
          </a:p>
        </p:txBody>
      </p:sp>
      <p:sp>
        <p:nvSpPr>
          <p:cNvPr id="37" name="Text 30"/>
          <p:cNvSpPr/>
          <p:nvPr/>
        </p:nvSpPr>
        <p:spPr>
          <a:xfrm>
            <a:off x="457200" y="4160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i="1" dirty="0">
                <a:solidFill>
                  <a:srgbClr val="4F6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don’t have to become everything today. You only have to take the next faithful step.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1215</Words>
  <Application>Microsoft Office PowerPoint</Application>
  <PresentationFormat>On-screen Show (16:9)</PresentationFormat>
  <Paragraphs>241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Consolas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Path of a New Muslim — First Steps &amp; What to Expect</dc:title>
  <dc:subject>A survival-and-growth roadmap for the first weeks and months after embracing Islam</dc:subject>
  <dc:creator>New Muslim Guidance</dc:creator>
  <cp:lastModifiedBy>Mohamed Essa Rafique</cp:lastModifiedBy>
  <cp:revision>1</cp:revision>
  <dcterms:created xsi:type="dcterms:W3CDTF">2026-09-09T06:09:51Z</dcterms:created>
  <dcterms:modified xsi:type="dcterms:W3CDTF">2026-09-09T06:13:01Z</dcterms:modified>
</cp:coreProperties>
</file>